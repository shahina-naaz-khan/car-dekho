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6"/>
  </p:notesMasterIdLst>
  <p:handoutMasterIdLst>
    <p:handoutMasterId r:id="rId17"/>
  </p:handoutMasterIdLst>
  <p:sldIdLst>
    <p:sldId id="338" r:id="rId5"/>
    <p:sldId id="327" r:id="rId6"/>
    <p:sldId id="346" r:id="rId7"/>
    <p:sldId id="315" r:id="rId8"/>
    <p:sldId id="329" r:id="rId9"/>
    <p:sldId id="302" r:id="rId10"/>
    <p:sldId id="339" r:id="rId11"/>
    <p:sldId id="345" r:id="rId12"/>
    <p:sldId id="344" r:id="rId13"/>
    <p:sldId id="340" r:id="rId14"/>
    <p:sldId id="30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>
        <p:scale>
          <a:sx n="50" d="100"/>
          <a:sy n="50" d="100"/>
        </p:scale>
        <p:origin x="1204" y="39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3400089" cy="861497"/>
          </a:xfrm>
        </p:spPr>
        <p:txBody>
          <a:bodyPr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Shahina Naaz Khan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  <a:p>
            <a:pPr algn="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3"/>
            <a:ext cx="4998720" cy="743448"/>
          </a:xfrm>
        </p:spPr>
        <p:txBody>
          <a:bodyPr>
            <a:normAutofit fontScale="90000"/>
          </a:bodyPr>
          <a:lstStyle/>
          <a:p>
            <a:r>
              <a:rPr lang="en-GB" sz="3200" b="1" dirty="0"/>
              <a:t>Car Market Trends Analysis with Car Dekho </a:t>
            </a:r>
            <a:endParaRPr lang="en-IN" sz="3200" b="1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6322496" y="3256384"/>
            <a:ext cx="420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</a:t>
            </a:r>
            <a:r>
              <a:rPr lang="en-IN" sz="1200" b="1" i="1" dirty="0"/>
              <a:t>STU677e95adc89d41736349101</a:t>
            </a:r>
            <a:endParaRPr lang="en-US" sz="1200" b="1" i="1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1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83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49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49" tmFilter="0, 0; 0.125,0.2665; 0.25,0.4; 0.375,0.465; 0.5,0.5;  0.625,0.535; 0.75,0.6; 0.875,0.7335; 1,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25" tmFilter="0, 0; 0.125,0.2665; 0.25,0.4; 0.375,0.465; 0.5,0.5;  0.625,0.535; 0.75,0.6; 0.875,0.7335; 1,1">
                                          <p:stCondLst>
                                            <p:cond delay="49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2" tmFilter="0, 0; 0.125,0.2665; 0.25,0.4; 0.375,0.465; 0.5,0.5;  0.625,0.535; 0.75,0.6; 0.875,0.7335; 1,1">
                                          <p:stCondLst>
                                            <p:cond delay="621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0">
                                          <p:stCondLst>
                                            <p:cond delay="24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62" decel="50000">
                                          <p:stCondLst>
                                            <p:cond delay="253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0">
                                          <p:stCondLst>
                                            <p:cond delay="49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62" decel="50000">
                                          <p:stCondLst>
                                            <p:cond delay="50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0">
                                          <p:stCondLst>
                                            <p:cond delay="61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62" decel="50000">
                                          <p:stCondLst>
                                            <p:cond delay="62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0">
                                          <p:stCondLst>
                                            <p:cond delay="67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62" decel="50000">
                                          <p:stCondLst>
                                            <p:cond delay="68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23482" y="2587256"/>
            <a:ext cx="6431280" cy="3607987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lang="en-US" sz="28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and sellers on used-car marketplaces struggle to agree on a fair resale price. A car's value depends on many interacting factors — its age, original price, mileage, fuel type, and ownership history — but that relationship is rarely obvious from a quick look at a listing.</a:t>
            </a:r>
            <a:endParaRPr lang="en-US" sz="2800" i="1" dirty="0"/>
          </a:p>
          <a:p>
            <a:pPr>
              <a:lnSpc>
                <a:spcPct val="125000"/>
              </a:lnSpc>
            </a:pPr>
            <a:r>
              <a:rPr lang="en-US" sz="28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structured way to explore this data, pricing decisions rely on intuition, leading to overpriced cars that sit unsold and underpriced cars that shortchange sellers.</a:t>
            </a:r>
            <a:endParaRPr lang="en-US" sz="2800" i="1" dirty="0"/>
          </a:p>
          <a:p>
            <a:pPr marL="0" indent="0">
              <a:lnSpc>
                <a:spcPct val="150000"/>
              </a:lnSpc>
              <a:buNone/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sz="3100" dirty="0"/>
              <a:t>PROBLEM  STATEMENT</a:t>
            </a:r>
            <a:br>
              <a:rPr lang="en-US" dirty="0"/>
            </a:br>
            <a:br>
              <a:rPr lang="en-US" dirty="0"/>
            </a:br>
            <a:r>
              <a:rPr lang="en-US" sz="2700" i="1" dirty="0">
                <a:solidFill>
                  <a:srgbClr val="232C5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Pricing a used car is guesswork without data</a:t>
            </a:r>
            <a:br>
              <a:rPr lang="en-US" sz="2700" dirty="0"/>
            </a:br>
            <a:br>
              <a:rPr lang="en-US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3608266"/>
            <a:ext cx="2187844" cy="25869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0E91E-18B4-D827-FF89-A9D2F6CAD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8259D10-B1E9-3827-D56B-AB4150BD8B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0541D8-580A-B88A-C2CF-3644F559EDF0}"/>
              </a:ext>
            </a:extLst>
          </p:cNvPr>
          <p:cNvSpPr txBox="1"/>
          <p:nvPr/>
        </p:nvSpPr>
        <p:spPr>
          <a:xfrm>
            <a:off x="1362108" y="1167065"/>
            <a:ext cx="60976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kern="0" spc="15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GUESSWORK SHOWS UP</a:t>
            </a:r>
            <a:endParaRPr lang="en-US" sz="2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9F497-566D-2060-0C16-9C53686A2BE3}"/>
              </a:ext>
            </a:extLst>
          </p:cNvPr>
          <p:cNvSpPr txBox="1"/>
          <p:nvPr/>
        </p:nvSpPr>
        <p:spPr>
          <a:xfrm>
            <a:off x="1297004" y="1591195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23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vs. price</a:t>
            </a:r>
            <a:endParaRPr lang="en-US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578533-23E3-1E7C-A9D2-81AA911BC83E}"/>
              </a:ext>
            </a:extLst>
          </p:cNvPr>
          <p:cNvSpPr txBox="1"/>
          <p:nvPr/>
        </p:nvSpPr>
        <p:spPr>
          <a:xfrm>
            <a:off x="1297004" y="1960527"/>
            <a:ext cx="6097604" cy="390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does each year of age erode resale value?</a:t>
            </a:r>
            <a:endParaRPr 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45B22F-5B6F-4B01-32C8-5A03862A62D9}"/>
              </a:ext>
            </a:extLst>
          </p:cNvPr>
          <p:cNvSpPr txBox="1"/>
          <p:nvPr/>
        </p:nvSpPr>
        <p:spPr>
          <a:xfrm>
            <a:off x="1297004" y="2535685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23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Depreciation gap</a:t>
            </a:r>
            <a:endParaRPr lang="en-US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5132D3-91CD-A4A6-9AF1-C4B1FE5106EE}"/>
              </a:ext>
            </a:extLst>
          </p:cNvPr>
          <p:cNvSpPr txBox="1"/>
          <p:nvPr/>
        </p:nvSpPr>
        <p:spPr>
          <a:xfrm>
            <a:off x="1297004" y="2905017"/>
            <a:ext cx="6097604" cy="70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does selling price fall from the original showroom price?</a:t>
            </a:r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406FEF-CEEA-5AE3-1DA4-2342AB8B4280}"/>
              </a:ext>
            </a:extLst>
          </p:cNvPr>
          <p:cNvSpPr txBox="1"/>
          <p:nvPr/>
        </p:nvSpPr>
        <p:spPr>
          <a:xfrm>
            <a:off x="1297004" y="3631235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23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&amp; transmission mix</a:t>
            </a:r>
            <a:endParaRPr lang="en-US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5CAE61-E0AA-B0E7-D93F-ABBAF156DE3C}"/>
              </a:ext>
            </a:extLst>
          </p:cNvPr>
          <p:cNvSpPr txBox="1"/>
          <p:nvPr/>
        </p:nvSpPr>
        <p:spPr>
          <a:xfrm>
            <a:off x="1297004" y="4017745"/>
            <a:ext cx="6097604" cy="390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Petrol, Diesel, or CNG cars command different prices?</a:t>
            </a:r>
            <a:endParaRPr 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2CF2D6-F327-2720-18C7-B192C6B28C29}"/>
              </a:ext>
            </a:extLst>
          </p:cNvPr>
          <p:cNvSpPr txBox="1"/>
          <p:nvPr/>
        </p:nvSpPr>
        <p:spPr>
          <a:xfrm>
            <a:off x="1297004" y="4485655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23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wear</a:t>
            </a:r>
            <a:endParaRPr lang="en-US" sz="1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73B60F-7359-30D1-4F9D-EF293EC5531F}"/>
              </a:ext>
            </a:extLst>
          </p:cNvPr>
          <p:cNvSpPr txBox="1"/>
          <p:nvPr/>
        </p:nvSpPr>
        <p:spPr>
          <a:xfrm>
            <a:off x="1297004" y="4897474"/>
            <a:ext cx="6097604" cy="390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kilometers driven meaningfully move the price?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144882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sz="3100" dirty="0"/>
              <a:t>Project Description</a:t>
            </a:r>
            <a:br>
              <a:rPr lang="en-GB" dirty="0"/>
            </a:br>
            <a:r>
              <a:rPr lang="en-US" sz="2700" dirty="0">
                <a:solidFill>
                  <a:srgbClr val="232C5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 exploratory data analysis of the Car Dekho listings</a:t>
            </a:r>
            <a:br>
              <a:rPr lang="en-US" dirty="0"/>
            </a:b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8640EE-9B25-DFD2-CEEE-4897073F5209}"/>
              </a:ext>
            </a:extLst>
          </p:cNvPr>
          <p:cNvSpPr txBox="1"/>
          <p:nvPr/>
        </p:nvSpPr>
        <p:spPr>
          <a:xfrm>
            <a:off x="660399" y="2080758"/>
            <a:ext cx="8470449" cy="991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loads a real used-car dataset (car_data.csv) into pandas and walks through a structured EDA workflow — profiling the data, checking its quality, and visualizing the patterns that drive resale price.</a:t>
            </a:r>
            <a:endParaRPr lang="en-US" sz="1600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5C94508E-132E-1BD6-34EF-E4FC69E6C43E}"/>
              </a:ext>
            </a:extLst>
          </p:cNvPr>
          <p:cNvSpPr/>
          <p:nvPr/>
        </p:nvSpPr>
        <p:spPr>
          <a:xfrm>
            <a:off x="660399" y="3218147"/>
            <a:ext cx="1899921" cy="2834640"/>
          </a:xfrm>
          <a:prstGeom prst="roundRect">
            <a:avLst>
              <a:gd name="adj" fmla="val 3617"/>
            </a:avLst>
          </a:prstGeom>
          <a:solidFill>
            <a:srgbClr val="F7F7FA"/>
          </a:solidFill>
          <a:ln/>
        </p:spPr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96C5869D-0111-1E3B-7FA2-FEF3AEC46C2C}"/>
              </a:ext>
            </a:extLst>
          </p:cNvPr>
          <p:cNvSpPr/>
          <p:nvPr/>
        </p:nvSpPr>
        <p:spPr>
          <a:xfrm>
            <a:off x="847985" y="3337536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9B75E8-A165-63DB-A0C6-828A2D8EE946}"/>
              </a:ext>
            </a:extLst>
          </p:cNvPr>
          <p:cNvSpPr txBox="1"/>
          <p:nvPr/>
        </p:nvSpPr>
        <p:spPr>
          <a:xfrm>
            <a:off x="770983" y="3914125"/>
            <a:ext cx="6097604" cy="31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3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Inspect</a:t>
            </a:r>
            <a:endParaRPr 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24F799-6D64-575B-6093-BF3AF17EEEDA}"/>
              </a:ext>
            </a:extLst>
          </p:cNvPr>
          <p:cNvSpPr txBox="1"/>
          <p:nvPr/>
        </p:nvSpPr>
        <p:spPr>
          <a:xfrm>
            <a:off x="660399" y="4405317"/>
            <a:ext cx="1899921" cy="1148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CSV with pandas; preview the first and last rows with head() / tail().</a:t>
            </a:r>
            <a:endParaRPr lang="en-US" sz="1400" dirty="0"/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25AD6FA3-6E39-7455-0922-87959CA62DC1}"/>
              </a:ext>
            </a:extLst>
          </p:cNvPr>
          <p:cNvSpPr/>
          <p:nvPr/>
        </p:nvSpPr>
        <p:spPr>
          <a:xfrm>
            <a:off x="2848492" y="3218147"/>
            <a:ext cx="1899921" cy="2834640"/>
          </a:xfrm>
          <a:prstGeom prst="roundRect">
            <a:avLst>
              <a:gd name="adj" fmla="val 3617"/>
            </a:avLst>
          </a:prstGeom>
          <a:solidFill>
            <a:srgbClr val="F7F7FA"/>
          </a:solidFill>
          <a:ln/>
        </p:spPr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9EC4639E-EC9A-A6B6-4FE6-411D576F9993}"/>
              </a:ext>
            </a:extLst>
          </p:cNvPr>
          <p:cNvSpPr/>
          <p:nvPr/>
        </p:nvSpPr>
        <p:spPr>
          <a:xfrm>
            <a:off x="5036585" y="3218147"/>
            <a:ext cx="1899921" cy="2834640"/>
          </a:xfrm>
          <a:prstGeom prst="roundRect">
            <a:avLst>
              <a:gd name="adj" fmla="val 3617"/>
            </a:avLst>
          </a:prstGeom>
          <a:solidFill>
            <a:srgbClr val="F7F7FA"/>
          </a:solidFill>
          <a:ln/>
        </p:spPr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2E1C35E0-DE86-0ADC-6239-865D6945B5B0}"/>
              </a:ext>
            </a:extLst>
          </p:cNvPr>
          <p:cNvSpPr/>
          <p:nvPr/>
        </p:nvSpPr>
        <p:spPr>
          <a:xfrm>
            <a:off x="7156759" y="3218147"/>
            <a:ext cx="1899921" cy="2834640"/>
          </a:xfrm>
          <a:prstGeom prst="roundRect">
            <a:avLst>
              <a:gd name="adj" fmla="val 3617"/>
            </a:avLst>
          </a:prstGeom>
          <a:solidFill>
            <a:srgbClr val="F7F7FA"/>
          </a:solidFill>
          <a:ln/>
        </p:spPr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18622E4F-EACF-79D4-3107-B609057D21BC}"/>
              </a:ext>
            </a:extLst>
          </p:cNvPr>
          <p:cNvSpPr/>
          <p:nvPr/>
        </p:nvSpPr>
        <p:spPr>
          <a:xfrm>
            <a:off x="3074069" y="3337536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01726B5A-6E3C-A54C-86BB-F93007962038}"/>
              </a:ext>
            </a:extLst>
          </p:cNvPr>
          <p:cNvSpPr/>
          <p:nvPr/>
        </p:nvSpPr>
        <p:spPr>
          <a:xfrm>
            <a:off x="5257800" y="3337536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EDE1F380-C020-70A6-AD5F-0F26B49B283A}"/>
              </a:ext>
            </a:extLst>
          </p:cNvPr>
          <p:cNvSpPr/>
          <p:nvPr/>
        </p:nvSpPr>
        <p:spPr>
          <a:xfrm>
            <a:off x="7431104" y="3337536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3C0699-394E-4A5E-C4E8-D5B3EAE5228F}"/>
              </a:ext>
            </a:extLst>
          </p:cNvPr>
          <p:cNvSpPr txBox="1"/>
          <p:nvPr/>
        </p:nvSpPr>
        <p:spPr>
          <a:xfrm>
            <a:off x="2937743" y="3914125"/>
            <a:ext cx="6097604" cy="31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3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the Data</a:t>
            </a:r>
            <a:endParaRPr lang="en-US" sz="1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226A5E-DF34-C263-0B2F-7CD22B5490D0}"/>
              </a:ext>
            </a:extLst>
          </p:cNvPr>
          <p:cNvSpPr txBox="1"/>
          <p:nvPr/>
        </p:nvSpPr>
        <p:spPr>
          <a:xfrm>
            <a:off x="5057917" y="3914125"/>
            <a:ext cx="6097604" cy="31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3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Data Quality</a:t>
            </a:r>
            <a:endParaRPr 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1AE8BFA-DB3C-83FA-785D-2CE29D4B0C53}"/>
              </a:ext>
            </a:extLst>
          </p:cNvPr>
          <p:cNvSpPr txBox="1"/>
          <p:nvPr/>
        </p:nvSpPr>
        <p:spPr>
          <a:xfrm>
            <a:off x="7224678" y="3908530"/>
            <a:ext cx="6097604" cy="31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3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Patterns</a:t>
            </a:r>
            <a:endParaRPr lang="en-US" sz="1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A7CF68B-FA8A-E4F3-7388-DCA9AD045586}"/>
              </a:ext>
            </a:extLst>
          </p:cNvPr>
          <p:cNvSpPr txBox="1"/>
          <p:nvPr/>
        </p:nvSpPr>
        <p:spPr>
          <a:xfrm>
            <a:off x="2819082" y="4417933"/>
            <a:ext cx="2030923" cy="1148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describe() and info() to check data types, ranges, and distribution of each column.</a:t>
            </a:r>
            <a:endParaRPr lang="en-US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A4B87EC-0914-287D-C145-D05FE54B32CA}"/>
              </a:ext>
            </a:extLst>
          </p:cNvPr>
          <p:cNvSpPr txBox="1"/>
          <p:nvPr/>
        </p:nvSpPr>
        <p:spPr>
          <a:xfrm>
            <a:off x="7239383" y="4224642"/>
            <a:ext cx="1934166" cy="1686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</a:t>
            </a:r>
            <a:r>
              <a:rPr lang="en-US" sz="14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Car_Name</a:t>
            </a: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frequency and </a:t>
            </a:r>
            <a:r>
              <a:rPr lang="en-US" sz="14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Fuel_Type</a:t>
            </a: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distribution with seaborn / matplotlib (</a:t>
            </a:r>
            <a:r>
              <a:rPr lang="en-US" sz="14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countplot</a:t>
            </a: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bar, pie).</a:t>
            </a:r>
            <a:endParaRPr lang="en-US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9C7F9C6-A8F8-F0E5-8129-DB148A39100B}"/>
              </a:ext>
            </a:extLst>
          </p:cNvPr>
          <p:cNvSpPr txBox="1"/>
          <p:nvPr/>
        </p:nvSpPr>
        <p:spPr>
          <a:xfrm>
            <a:off x="5092163" y="4417933"/>
            <a:ext cx="2030923" cy="1148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</a:t>
            </a:r>
            <a:r>
              <a:rPr lang="en-US" sz="14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isnull</a:t>
            </a: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().sum() to confirm the dataset has zero missing values across all 9 columns.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8" name="Shape 4">
            <a:extLst>
              <a:ext uri="{FF2B5EF4-FFF2-40B4-BE49-F238E27FC236}">
                <a16:creationId xmlns:a16="http://schemas.microsoft.com/office/drawing/2014/main" id="{250979A7-AE78-FEA4-70E0-6808B26143C3}"/>
              </a:ext>
            </a:extLst>
          </p:cNvPr>
          <p:cNvSpPr/>
          <p:nvPr/>
        </p:nvSpPr>
        <p:spPr>
          <a:xfrm>
            <a:off x="1824228" y="2441448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5B5D4A05-66F1-F3AF-15BF-915ABBB7429B}"/>
              </a:ext>
            </a:extLst>
          </p:cNvPr>
          <p:cNvSpPr/>
          <p:nvPr/>
        </p:nvSpPr>
        <p:spPr>
          <a:xfrm>
            <a:off x="1741932" y="2679192"/>
            <a:ext cx="402336" cy="274320"/>
          </a:xfrm>
          <a:prstGeom prst="pie">
            <a:avLst>
              <a:gd name="adj1" fmla="val 10800000"/>
              <a:gd name="adj2" fmla="val 21600000"/>
            </a:avLst>
          </a:prstGeom>
          <a:solidFill>
            <a:srgbClr val="FFFFFF"/>
          </a:solidFill>
          <a:ln/>
        </p:spPr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08A8BDBE-B5C2-8E31-24DA-5F76D7B36256}"/>
              </a:ext>
            </a:extLst>
          </p:cNvPr>
          <p:cNvSpPr/>
          <p:nvPr/>
        </p:nvSpPr>
        <p:spPr>
          <a:xfrm>
            <a:off x="538293" y="3470831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3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Used-Car Buyers</a:t>
            </a:r>
            <a:endParaRPr lang="en-US" sz="145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B45C6C8B-DC9A-85C5-F745-42970B0E9BE0}"/>
              </a:ext>
            </a:extLst>
          </p:cNvPr>
          <p:cNvSpPr/>
          <p:nvPr/>
        </p:nvSpPr>
        <p:spPr>
          <a:xfrm>
            <a:off x="841248" y="3734602"/>
            <a:ext cx="1670946" cy="1660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 listed car's price against real market patterns before making an offer.</a:t>
            </a:r>
            <a:endParaRPr lang="en-US" sz="115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4E284843-1B47-BF77-BAAB-3FE96999C9AB}"/>
              </a:ext>
            </a:extLst>
          </p:cNvPr>
          <p:cNvSpPr/>
          <p:nvPr/>
        </p:nvSpPr>
        <p:spPr>
          <a:xfrm>
            <a:off x="3421059" y="2743200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B51411D0-1538-95D9-F73C-53487650114D}"/>
              </a:ext>
            </a:extLst>
          </p:cNvPr>
          <p:cNvSpPr/>
          <p:nvPr/>
        </p:nvSpPr>
        <p:spPr>
          <a:xfrm>
            <a:off x="3667947" y="2898648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36DCEEBD-8063-AA86-CAC6-04967FB93ED2}"/>
              </a:ext>
            </a:extLst>
          </p:cNvPr>
          <p:cNvSpPr/>
          <p:nvPr/>
        </p:nvSpPr>
        <p:spPr>
          <a:xfrm>
            <a:off x="3585651" y="3136392"/>
            <a:ext cx="402336" cy="274320"/>
          </a:xfrm>
          <a:prstGeom prst="pie">
            <a:avLst>
              <a:gd name="adj1" fmla="val 10800000"/>
              <a:gd name="adj2" fmla="val 21600000"/>
            </a:avLst>
          </a:prstGeom>
          <a:solidFill>
            <a:srgbClr val="FFFFFF"/>
          </a:solidFill>
          <a:ln/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E67008CB-F10B-9819-A3AB-1C8DF37162D1}"/>
              </a:ext>
            </a:extLst>
          </p:cNvPr>
          <p:cNvSpPr/>
          <p:nvPr/>
        </p:nvSpPr>
        <p:spPr>
          <a:xfrm>
            <a:off x="2702052" y="3470831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3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Sellers</a:t>
            </a:r>
            <a:endParaRPr lang="en-US" sz="145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61F045C4-CECC-DEA8-50FE-334D0290243F}"/>
              </a:ext>
            </a:extLst>
          </p:cNvPr>
          <p:cNvSpPr/>
          <p:nvPr/>
        </p:nvSpPr>
        <p:spPr>
          <a:xfrm>
            <a:off x="2973604" y="3675368"/>
            <a:ext cx="167094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an asking price using comparable cars' year, mileage, and fuel type.</a:t>
            </a:r>
            <a:endParaRPr lang="en-US" sz="115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CD5A8D5C-9CE8-6A17-4FCB-6A9F5E12E61F}"/>
              </a:ext>
            </a:extLst>
          </p:cNvPr>
          <p:cNvSpPr/>
          <p:nvPr/>
        </p:nvSpPr>
        <p:spPr>
          <a:xfrm>
            <a:off x="5612732" y="2757628"/>
            <a:ext cx="731520" cy="731520"/>
          </a:xfrm>
          <a:prstGeom prst="ellipse">
            <a:avLst/>
          </a:prstGeom>
          <a:solidFill>
            <a:srgbClr val="5A67B8"/>
          </a:solidFill>
          <a:ln/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F52AE60D-6EFA-2381-5646-538263B3A0CD}"/>
              </a:ext>
            </a:extLst>
          </p:cNvPr>
          <p:cNvSpPr/>
          <p:nvPr/>
        </p:nvSpPr>
        <p:spPr>
          <a:xfrm>
            <a:off x="5859620" y="2913076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DFB9FA00-8F80-F08F-2B4E-4E0D115CEAF0}"/>
              </a:ext>
            </a:extLst>
          </p:cNvPr>
          <p:cNvSpPr/>
          <p:nvPr/>
        </p:nvSpPr>
        <p:spPr>
          <a:xfrm>
            <a:off x="5777324" y="3150820"/>
            <a:ext cx="402336" cy="274320"/>
          </a:xfrm>
          <a:prstGeom prst="pie">
            <a:avLst>
              <a:gd name="adj1" fmla="val 10800000"/>
              <a:gd name="adj2" fmla="val 21600000"/>
            </a:avLst>
          </a:prstGeom>
          <a:solidFill>
            <a:srgbClr val="FFFFFF"/>
          </a:solidFill>
          <a:ln/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007ACF1-677A-FC9B-9381-E22B947F7A2D}"/>
              </a:ext>
            </a:extLst>
          </p:cNvPr>
          <p:cNvSpPr/>
          <p:nvPr/>
        </p:nvSpPr>
        <p:spPr>
          <a:xfrm>
            <a:off x="4916102" y="3483364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3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Dealership Analysts</a:t>
            </a:r>
            <a:endParaRPr lang="en-US" sz="14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7688E3C-BCAF-110C-5CC4-B7E69CB35DC5}"/>
              </a:ext>
            </a:extLst>
          </p:cNvPr>
          <p:cNvSpPr/>
          <p:nvPr/>
        </p:nvSpPr>
        <p:spPr>
          <a:xfrm>
            <a:off x="5171292" y="3797166"/>
            <a:ext cx="167094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pricing trends across inventory — which models, fuel types, and ages move fastest.</a:t>
            </a:r>
            <a:endParaRPr lang="en-US" sz="1150" dirty="0"/>
          </a:p>
        </p:txBody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DA15F838-8456-19C1-EAE3-46EBBE845D82}"/>
              </a:ext>
            </a:extLst>
          </p:cNvPr>
          <p:cNvSpPr/>
          <p:nvPr/>
        </p:nvSpPr>
        <p:spPr>
          <a:xfrm>
            <a:off x="8039423" y="2739311"/>
            <a:ext cx="731520" cy="731520"/>
          </a:xfrm>
          <a:prstGeom prst="ellipse">
            <a:avLst/>
          </a:prstGeom>
          <a:solidFill>
            <a:srgbClr val="C97A3D"/>
          </a:solidFill>
          <a:ln/>
        </p:spPr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AF50BD3A-7C1B-682A-1F85-8E2F8612E13C}"/>
              </a:ext>
            </a:extLst>
          </p:cNvPr>
          <p:cNvSpPr/>
          <p:nvPr/>
        </p:nvSpPr>
        <p:spPr>
          <a:xfrm>
            <a:off x="8286311" y="2894759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438119D5-9A76-4972-1B4A-153CA9F4D62F}"/>
              </a:ext>
            </a:extLst>
          </p:cNvPr>
          <p:cNvSpPr/>
          <p:nvPr/>
        </p:nvSpPr>
        <p:spPr>
          <a:xfrm>
            <a:off x="8204015" y="3132503"/>
            <a:ext cx="402336" cy="274320"/>
          </a:xfrm>
          <a:prstGeom prst="pie">
            <a:avLst>
              <a:gd name="adj1" fmla="val 10800000"/>
              <a:gd name="adj2" fmla="val 21600000"/>
            </a:avLst>
          </a:prstGeom>
          <a:solidFill>
            <a:srgbClr val="FFFFFF"/>
          </a:solidFill>
          <a:ln/>
        </p:spPr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64B3ABF4-525A-A836-74EF-C86E40F9B945}"/>
              </a:ext>
            </a:extLst>
          </p:cNvPr>
          <p:cNvSpPr/>
          <p:nvPr/>
        </p:nvSpPr>
        <p:spPr>
          <a:xfrm>
            <a:off x="7213092" y="3483364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3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Learners</a:t>
            </a:r>
            <a:endParaRPr lang="en-US" sz="1450" dirty="0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B4AE8B11-C783-C941-BF00-C0C28DB2A287}"/>
              </a:ext>
            </a:extLst>
          </p:cNvPr>
          <p:cNvSpPr/>
          <p:nvPr/>
        </p:nvSpPr>
        <p:spPr>
          <a:xfrm>
            <a:off x="7464510" y="3752370"/>
            <a:ext cx="167094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worked example of an EDA workflow: load, profile, clean-check, and visualize a real dataset.</a:t>
            </a:r>
            <a:endParaRPr lang="en-US" sz="1150" dirty="0"/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3229F8BA-4C5E-947D-505E-5072AF4D3C23}"/>
              </a:ext>
            </a:extLst>
          </p:cNvPr>
          <p:cNvSpPr/>
          <p:nvPr/>
        </p:nvSpPr>
        <p:spPr>
          <a:xfrm>
            <a:off x="1257300" y="2722968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D1A20D7F-2491-3ECA-DBBB-5DBEA22F5D79}"/>
              </a:ext>
            </a:extLst>
          </p:cNvPr>
          <p:cNvSpPr/>
          <p:nvPr/>
        </p:nvSpPr>
        <p:spPr>
          <a:xfrm>
            <a:off x="1504188" y="2878416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Shape 5">
            <a:extLst>
              <a:ext uri="{FF2B5EF4-FFF2-40B4-BE49-F238E27FC236}">
                <a16:creationId xmlns:a16="http://schemas.microsoft.com/office/drawing/2014/main" id="{FDBDA479-C89E-1067-3198-3263D5794B0D}"/>
              </a:ext>
            </a:extLst>
          </p:cNvPr>
          <p:cNvSpPr/>
          <p:nvPr/>
        </p:nvSpPr>
        <p:spPr>
          <a:xfrm>
            <a:off x="1421892" y="3116160"/>
            <a:ext cx="402336" cy="274320"/>
          </a:xfrm>
          <a:prstGeom prst="pie">
            <a:avLst>
              <a:gd name="adj1" fmla="val 10800000"/>
              <a:gd name="adj2" fmla="val 21600000"/>
            </a:avLst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Technology Used</a:t>
            </a:r>
            <a:br>
              <a:rPr lang="en-US" sz="2800" dirty="0"/>
            </a:b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standard Python data-science stack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4A85DD2F-0C99-816E-E922-08DCA16A38BB}"/>
              </a:ext>
            </a:extLst>
          </p:cNvPr>
          <p:cNvSpPr/>
          <p:nvPr/>
        </p:nvSpPr>
        <p:spPr>
          <a:xfrm>
            <a:off x="640080" y="2231617"/>
            <a:ext cx="2151246" cy="1145257"/>
          </a:xfrm>
          <a:prstGeom prst="roundRect">
            <a:avLst>
              <a:gd name="adj" fmla="val 6061"/>
            </a:avLst>
          </a:prstGeom>
          <a:solidFill>
            <a:srgbClr val="2B3568"/>
          </a:solidFill>
          <a:ln/>
        </p:spPr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BBBF10EE-D09E-1A9E-72C1-BDCD6F1A15DA}"/>
              </a:ext>
            </a:extLst>
          </p:cNvPr>
          <p:cNvSpPr/>
          <p:nvPr/>
        </p:nvSpPr>
        <p:spPr>
          <a:xfrm>
            <a:off x="896112" y="2277337"/>
            <a:ext cx="457200" cy="420142"/>
          </a:xfrm>
          <a:prstGeom prst="roundRect">
            <a:avLst>
              <a:gd name="adj" fmla="val 18000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4118DA53-7AF2-F867-9B4A-73C50E6205F1}"/>
              </a:ext>
            </a:extLst>
          </p:cNvPr>
          <p:cNvSpPr/>
          <p:nvPr/>
        </p:nvSpPr>
        <p:spPr>
          <a:xfrm>
            <a:off x="896112" y="223161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6617225-7BDF-31FA-373C-4504012EA9FB}"/>
              </a:ext>
            </a:extLst>
          </p:cNvPr>
          <p:cNvSpPr/>
          <p:nvPr/>
        </p:nvSpPr>
        <p:spPr>
          <a:xfrm>
            <a:off x="672430" y="2743199"/>
            <a:ext cx="2916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45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DBD3BB9-D589-E989-D4DE-30639BAE93DD}"/>
              </a:ext>
            </a:extLst>
          </p:cNvPr>
          <p:cNvSpPr/>
          <p:nvPr/>
        </p:nvSpPr>
        <p:spPr>
          <a:xfrm>
            <a:off x="660399" y="2972281"/>
            <a:ext cx="1928797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the whole notebook.</a:t>
            </a:r>
            <a:endParaRPr lang="en-US" sz="105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1ECF69D3-495B-F466-CE7C-1C6B32B37BBB}"/>
              </a:ext>
            </a:extLst>
          </p:cNvPr>
          <p:cNvSpPr/>
          <p:nvPr/>
        </p:nvSpPr>
        <p:spPr>
          <a:xfrm>
            <a:off x="3078264" y="2231617"/>
            <a:ext cx="2216112" cy="1161288"/>
          </a:xfrm>
          <a:prstGeom prst="roundRect">
            <a:avLst>
              <a:gd name="adj" fmla="val 6061"/>
            </a:avLst>
          </a:prstGeom>
          <a:solidFill>
            <a:srgbClr val="2B3568"/>
          </a:solidFill>
          <a:ln/>
        </p:spPr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55ED8A7C-8ED7-73AF-5547-8F8000D4476D}"/>
              </a:ext>
            </a:extLst>
          </p:cNvPr>
          <p:cNvSpPr/>
          <p:nvPr/>
        </p:nvSpPr>
        <p:spPr>
          <a:xfrm>
            <a:off x="3281733" y="225880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96167"/>
          </a:solidFill>
          <a:ln/>
        </p:spPr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7D25F5ED-ADA0-C2F3-388F-D3B10E244035}"/>
              </a:ext>
            </a:extLst>
          </p:cNvPr>
          <p:cNvSpPr/>
          <p:nvPr/>
        </p:nvSpPr>
        <p:spPr>
          <a:xfrm>
            <a:off x="3278845" y="224918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294A4B94-B279-6D30-6570-831F53B8B065}"/>
              </a:ext>
            </a:extLst>
          </p:cNvPr>
          <p:cNvSpPr/>
          <p:nvPr/>
        </p:nvSpPr>
        <p:spPr>
          <a:xfrm>
            <a:off x="3122676" y="2720149"/>
            <a:ext cx="2916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45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CBC43993-C570-CE90-CFBC-788A49898202}"/>
              </a:ext>
            </a:extLst>
          </p:cNvPr>
          <p:cNvSpPr/>
          <p:nvPr/>
        </p:nvSpPr>
        <p:spPr>
          <a:xfrm>
            <a:off x="3122676" y="2966264"/>
            <a:ext cx="2171700" cy="4092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car_data.csv; profiling via head(), describe(), info(), isnull().</a:t>
            </a:r>
            <a:endParaRPr lang="en-US" sz="1050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BC7A10AE-BBB0-D0C3-A3EA-B4F1B5C11D5F}"/>
              </a:ext>
            </a:extLst>
          </p:cNvPr>
          <p:cNvSpPr/>
          <p:nvPr/>
        </p:nvSpPr>
        <p:spPr>
          <a:xfrm>
            <a:off x="5581314" y="2231615"/>
            <a:ext cx="2216112" cy="1161289"/>
          </a:xfrm>
          <a:prstGeom prst="roundRect">
            <a:avLst>
              <a:gd name="adj" fmla="val 6061"/>
            </a:avLst>
          </a:prstGeom>
          <a:solidFill>
            <a:srgbClr val="2B3568"/>
          </a:solidFill>
          <a:ln/>
        </p:spPr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1C98D877-6358-50B1-6503-A9490CCA315E}"/>
              </a:ext>
            </a:extLst>
          </p:cNvPr>
          <p:cNvSpPr/>
          <p:nvPr/>
        </p:nvSpPr>
        <p:spPr>
          <a:xfrm>
            <a:off x="5763126" y="2273725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96167"/>
          </a:solidFill>
          <a:ln/>
        </p:spPr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093D8FDF-5E9B-F3BD-7EA1-D327E9980426}"/>
              </a:ext>
            </a:extLst>
          </p:cNvPr>
          <p:cNvSpPr/>
          <p:nvPr/>
        </p:nvSpPr>
        <p:spPr>
          <a:xfrm>
            <a:off x="5743393" y="22803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0B890737-E380-E2DD-3B79-437F01C75022}"/>
              </a:ext>
            </a:extLst>
          </p:cNvPr>
          <p:cNvSpPr/>
          <p:nvPr/>
        </p:nvSpPr>
        <p:spPr>
          <a:xfrm>
            <a:off x="5568616" y="2762737"/>
            <a:ext cx="2916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45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BFBA34AC-A973-6E57-04DF-B52D33B1EB2B}"/>
              </a:ext>
            </a:extLst>
          </p:cNvPr>
          <p:cNvSpPr/>
          <p:nvPr/>
        </p:nvSpPr>
        <p:spPr>
          <a:xfrm>
            <a:off x="5581314" y="2987827"/>
            <a:ext cx="2216112" cy="387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 numerical array support for pandas.</a:t>
            </a:r>
            <a:endParaRPr lang="en-US" sz="1050" dirty="0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9C6921AC-4F05-97B0-A42F-FC71D7CAA831}"/>
              </a:ext>
            </a:extLst>
          </p:cNvPr>
          <p:cNvSpPr/>
          <p:nvPr/>
        </p:nvSpPr>
        <p:spPr>
          <a:xfrm>
            <a:off x="1592072" y="3990708"/>
            <a:ext cx="2247498" cy="1346575"/>
          </a:xfrm>
          <a:prstGeom prst="roundRect">
            <a:avLst>
              <a:gd name="adj" fmla="val 6061"/>
            </a:avLst>
          </a:prstGeom>
          <a:solidFill>
            <a:srgbClr val="2B3568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76B120A0-E2B3-5E2C-5094-AE8F0F08CC1D}"/>
              </a:ext>
            </a:extLst>
          </p:cNvPr>
          <p:cNvSpPr/>
          <p:nvPr/>
        </p:nvSpPr>
        <p:spPr>
          <a:xfrm>
            <a:off x="1832864" y="40673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96167"/>
          </a:solidFill>
          <a:ln/>
        </p:spPr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210FD3C7-5638-DF85-E847-12CF4F93AD7C}"/>
              </a:ext>
            </a:extLst>
          </p:cNvPr>
          <p:cNvSpPr/>
          <p:nvPr/>
        </p:nvSpPr>
        <p:spPr>
          <a:xfrm>
            <a:off x="1806342" y="407874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9B42FA4B-D55C-9D53-A116-AA72DBDBD227}"/>
              </a:ext>
            </a:extLst>
          </p:cNvPr>
          <p:cNvSpPr/>
          <p:nvPr/>
        </p:nvSpPr>
        <p:spPr>
          <a:xfrm>
            <a:off x="1629556" y="4491963"/>
            <a:ext cx="2916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450" dirty="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8515A823-12FF-47C4-C768-23F4720F544B}"/>
              </a:ext>
            </a:extLst>
          </p:cNvPr>
          <p:cNvSpPr/>
          <p:nvPr/>
        </p:nvSpPr>
        <p:spPr>
          <a:xfrm>
            <a:off x="1592072" y="4806833"/>
            <a:ext cx="2182152" cy="2709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plotting library — pie chart and bar chart of Fuel_Type.</a:t>
            </a:r>
            <a:endParaRPr lang="en-US" sz="1050" dirty="0"/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1A1EF7BD-B053-7BE7-92AD-C31529104375}"/>
              </a:ext>
            </a:extLst>
          </p:cNvPr>
          <p:cNvSpPr/>
          <p:nvPr/>
        </p:nvSpPr>
        <p:spPr>
          <a:xfrm>
            <a:off x="4208526" y="4014696"/>
            <a:ext cx="2422197" cy="1346575"/>
          </a:xfrm>
          <a:prstGeom prst="roundRect">
            <a:avLst>
              <a:gd name="adj" fmla="val 6061"/>
            </a:avLst>
          </a:prstGeom>
          <a:solidFill>
            <a:srgbClr val="2B3568"/>
          </a:solidFill>
          <a:ln/>
        </p:spPr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3D91E291-2C76-5CBA-CDC5-636115FD2D84}"/>
              </a:ext>
            </a:extLst>
          </p:cNvPr>
          <p:cNvSpPr/>
          <p:nvPr/>
        </p:nvSpPr>
        <p:spPr>
          <a:xfrm>
            <a:off x="4450774" y="4053753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96167"/>
          </a:solidFill>
          <a:ln/>
        </p:spPr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3C1284CE-D7D8-F3EC-5D52-A3F0B2CEDCDA}"/>
              </a:ext>
            </a:extLst>
          </p:cNvPr>
          <p:cNvSpPr/>
          <p:nvPr/>
        </p:nvSpPr>
        <p:spPr>
          <a:xfrm>
            <a:off x="4450774" y="403211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5C9B09F9-BCC6-8200-349E-6B0A3CC4428E}"/>
              </a:ext>
            </a:extLst>
          </p:cNvPr>
          <p:cNvSpPr/>
          <p:nvPr/>
        </p:nvSpPr>
        <p:spPr>
          <a:xfrm>
            <a:off x="4338373" y="4514225"/>
            <a:ext cx="2916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450" dirty="0"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08D4BE8F-6854-3B59-CCC8-ED4120AF0457}"/>
              </a:ext>
            </a:extLst>
          </p:cNvPr>
          <p:cNvSpPr/>
          <p:nvPr/>
        </p:nvSpPr>
        <p:spPr>
          <a:xfrm>
            <a:off x="4327508" y="4837657"/>
            <a:ext cx="163918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visualization — countplot of Car_Name frequency.</a:t>
            </a:r>
            <a:endParaRPr lang="en-US" sz="1050" dirty="0"/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89583B78-8FCE-74E6-C497-40BB38F27FF9}"/>
              </a:ext>
            </a:extLst>
          </p:cNvPr>
          <p:cNvSpPr/>
          <p:nvPr/>
        </p:nvSpPr>
        <p:spPr>
          <a:xfrm>
            <a:off x="7027084" y="3990708"/>
            <a:ext cx="2422197" cy="1370564"/>
          </a:xfrm>
          <a:prstGeom prst="roundRect">
            <a:avLst>
              <a:gd name="adj" fmla="val 6061"/>
            </a:avLst>
          </a:prstGeom>
          <a:solidFill>
            <a:srgbClr val="2B3568"/>
          </a:solidFill>
          <a:ln/>
        </p:spPr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C824A898-EE9D-B049-CEBF-DC5AE7872015}"/>
              </a:ext>
            </a:extLst>
          </p:cNvPr>
          <p:cNvSpPr/>
          <p:nvPr/>
        </p:nvSpPr>
        <p:spPr>
          <a:xfrm>
            <a:off x="7284026" y="404044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96167"/>
          </a:solidFill>
          <a:ln/>
        </p:spPr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E811743A-9BC6-7FB6-9C8F-7B58925C3970}"/>
              </a:ext>
            </a:extLst>
          </p:cNvPr>
          <p:cNvSpPr/>
          <p:nvPr/>
        </p:nvSpPr>
        <p:spPr>
          <a:xfrm>
            <a:off x="7255309" y="402386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9FD62345-FC6F-64A7-D5F5-910648FA550E}"/>
              </a:ext>
            </a:extLst>
          </p:cNvPr>
          <p:cNvSpPr/>
          <p:nvPr/>
        </p:nvSpPr>
        <p:spPr>
          <a:xfrm>
            <a:off x="7125823" y="4545049"/>
            <a:ext cx="2916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450" dirty="0"/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DE088301-CBB4-3F8A-7D32-0A761B66420D}"/>
              </a:ext>
            </a:extLst>
          </p:cNvPr>
          <p:cNvSpPr/>
          <p:nvPr/>
        </p:nvSpPr>
        <p:spPr>
          <a:xfrm>
            <a:off x="7125823" y="4827715"/>
            <a:ext cx="2124055" cy="4571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execution environment; file upload / Drive-mount for the CSV.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098228-545E-95FB-2D78-BF77064369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375"/>
          <a:stretch>
            <a:fillRect/>
          </a:stretch>
        </p:blipFill>
        <p:spPr>
          <a:xfrm>
            <a:off x="675957" y="1203395"/>
            <a:ext cx="8786754" cy="4528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61C17-221D-449F-A869-611C8320A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8EA21E-19BE-856C-DAD5-1389BC0941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F80E6E9-3C08-4787-0C60-415DA3EE305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6385C2D2-F51B-52E3-2E5E-04F189C6E5D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8F674E-6574-4701-3468-F9C38FD5E3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991"/>
          <a:stretch>
            <a:fillRect/>
          </a:stretch>
        </p:blipFill>
        <p:spPr>
          <a:xfrm>
            <a:off x="645434" y="1106645"/>
            <a:ext cx="8978400" cy="469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108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D4EE5-A229-0D9D-31AB-6EEB573FA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CDB257-1006-E673-F12F-60BA79910F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79C40B10-6000-B75F-2541-50A9030DA8DA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4C1FF6B-C7B9-68F3-01EE-21EE2FF396E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EDAD9A0-9457-AB04-9FF9-A066A8305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394"/>
          <a:stretch>
            <a:fillRect/>
          </a:stretch>
        </p:blipFill>
        <p:spPr>
          <a:xfrm>
            <a:off x="546101" y="1282776"/>
            <a:ext cx="8851900" cy="4660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509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36A3AF-FA9C-45B0-A4A8-413204612E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019"/>
          <a:stretch>
            <a:fillRect/>
          </a:stretch>
        </p:blipFill>
        <p:spPr>
          <a:xfrm>
            <a:off x="675957" y="1442631"/>
            <a:ext cx="8750073" cy="462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79237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840</TotalTime>
  <Words>496</Words>
  <Application>Microsoft Office PowerPoint</Application>
  <PresentationFormat>Widescreen</PresentationFormat>
  <Paragraphs>62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Century Schoolbook</vt:lpstr>
      <vt:lpstr>Trebuchet MS</vt:lpstr>
      <vt:lpstr>Wingdings</vt:lpstr>
      <vt:lpstr>Wingdings 3</vt:lpstr>
      <vt:lpstr>Facet</vt:lpstr>
      <vt:lpstr>Car Market Trends Analysis with Car Dekho </vt:lpstr>
      <vt:lpstr>PROBLEM  STATEMENT  Pricing a used car is guesswork without data  </vt:lpstr>
      <vt:lpstr>PowerPoint Presentation</vt:lpstr>
      <vt:lpstr>Project Description An exploratory data analysis of the Car Dekho listings   </vt:lpstr>
      <vt:lpstr>WHO ARE THE END USERS?</vt:lpstr>
      <vt:lpstr>Technology Used A standard Python data-science stack </vt:lpstr>
      <vt:lpstr>RESULTS 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Shahina Khan</dc:creator>
  <cp:lastModifiedBy>Shahina Naaz Khan</cp:lastModifiedBy>
  <cp:revision>76</cp:revision>
  <dcterms:created xsi:type="dcterms:W3CDTF">2021-07-11T13:13:15Z</dcterms:created>
  <dcterms:modified xsi:type="dcterms:W3CDTF">2026-09-01T17:25:00Z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